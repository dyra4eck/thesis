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8" r:id="rId10"/>
    <p:sldId id="261" r:id="rId11"/>
    <p:sldId id="269" r:id="rId12"/>
    <p:sldId id="262" r:id="rId13"/>
    <p:sldId id="270" r:id="rId14"/>
    <p:sldId id="263" r:id="rId15"/>
    <p:sldId id="264" r:id="rId16"/>
    <p:sldId id="265" r:id="rId1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3200400" cy="3200400"/>
          </a:xfrm>
          <a:prstGeom prst="ellipse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926080"/>
            <a:ext cx="2011680" cy="2011680"/>
          </a:xfrm>
          <a:prstGeom prst="ellipse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1C7293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60120"/>
            <a:ext cx="7132320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Формальная верификация механизмов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планирования канальных ресурсов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транспортных протоколов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2926080"/>
            <a:ext cx="41148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493008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Инструменты: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nuXmv 2.1.0 · CTL · JSON → SMV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3840480"/>
            <a:ext cx="6858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Основа: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Hippel (2025), arXiv:2511.01124</a:t>
            </a:r>
            <a:endParaRPr lang="en-US" sz="1300" dirty="0"/>
          </a:p>
        </p:txBody>
      </p:sp>
      <p:sp>
        <p:nvSpPr>
          <p:cNvPr id="10" name="Заголовок 9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 и цель работы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1078992"/>
          </a:xfrm>
          <a:prstGeom prst="rect">
            <a:avLst/>
          </a:prstGeom>
          <a:solidFill>
            <a:srgbClr val="DCEEFB"/>
          </a:solidFill>
          <a:ln w="1905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87552"/>
            <a:ext cx="109728" cy="10789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24128"/>
            <a:ext cx="804672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«The Internet, to a considerable degree, relies on the correct implementation of the RTO algorithm in order to preserve network stability and avoid congestion collapse»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0" y="181051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628; von Hippel (2025), p. 11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265176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AACC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377440"/>
            <a:ext cx="265176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95728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" y="2788920"/>
            <a:ext cx="2450592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Механизмы RTT, RTO и Go-Back-N критичны для стабильности Интернета, но до 2025 г. не были формально верифицированы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0" y="2377440"/>
            <a:ext cx="2651760" cy="2331720"/>
          </a:xfrm>
          <a:prstGeom prst="rect">
            <a:avLst/>
          </a:prstGeom>
          <a:solidFill>
            <a:srgbClr val="EAF6FF"/>
          </a:solidFill>
          <a:ln w="6350">
            <a:solidFill>
              <a:srgbClr val="AACC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2377440"/>
            <a:ext cx="265176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2395728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10128" y="2788920"/>
            <a:ext cx="2450592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Построить формальные модели Крипке K_Karn, K_RTO, K_GBN и верифицировать их CTL-свойства инструментом nuXmv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2377440"/>
            <a:ext cx="2651760" cy="2331720"/>
          </a:xfrm>
          <a:prstGeom prst="rect">
            <a:avLst/>
          </a:prstGeom>
          <a:solidFill>
            <a:srgbClr val="E8FBF4"/>
          </a:solidFill>
          <a:ln w="6350">
            <a:solidFill>
              <a:srgbClr val="AACC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2377440"/>
            <a:ext cx="265176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2395728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Вклад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44768" y="2788920"/>
            <a:ext cx="2450592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CTL-свойства, 3 модели, генератор SMV, 6 итераций уточнения — всё верифицировано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Теоретическая основа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0" y="137160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Hippel (2025), p. 62–65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51206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051560"/>
            <a:ext cx="47548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Конечная структура Крипке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/>
              <a:t>K = ⟨AP, S, s₀, T, L⟩</a:t>
            </a:r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475488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— атомарные пропозиции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— конечное множество состояний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⊆ S × S — отношение переходов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: S → 2^AP — функция разметки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0" y="1005840"/>
            <a:ext cx="3108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806440" y="1051560"/>
            <a:ext cx="2834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CTL-операторы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806440" y="1463040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 φ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во всех состояниях всех путей (safety)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06440" y="1938528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 φ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рано или поздно на всех путях (liveness)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06440" y="2414016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φ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существует следующее состояние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154680"/>
            <a:ext cx="8412480" cy="1600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321868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Инструментальный пайплайн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584448"/>
            <a:ext cx="1417320" cy="804672"/>
          </a:xfrm>
          <a:prstGeom prst="rect">
            <a:avLst/>
          </a:prstGeom>
          <a:solidFill>
            <a:srgbClr val="1C7293"/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584448"/>
            <a:ext cx="132588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JSON-модель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20240" y="3803904"/>
            <a:ext cx="25603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176272" y="3584448"/>
            <a:ext cx="1417320" cy="804672"/>
          </a:xfrm>
          <a:prstGeom prst="rect">
            <a:avLst/>
          </a:prstGeom>
          <a:solidFill>
            <a:srgbClr val="1C7293"/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21992" y="3584448"/>
            <a:ext cx="132588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kripke_generator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(C++)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93592" y="3803904"/>
            <a:ext cx="25603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49624" y="3584448"/>
            <a:ext cx="1417320" cy="804672"/>
          </a:xfrm>
          <a:prstGeom prst="rect">
            <a:avLst/>
          </a:prstGeom>
          <a:solidFill>
            <a:srgbClr val="1C7293"/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95344" y="3584448"/>
            <a:ext cx="132588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SMV-файл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66944" y="3803904"/>
            <a:ext cx="25603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522976" y="3584448"/>
            <a:ext cx="1417320" cy="804672"/>
          </a:xfrm>
          <a:prstGeom prst="rect">
            <a:avLst/>
          </a:prstGeom>
          <a:solidFill>
            <a:srgbClr val="1C7293"/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68696" y="3584448"/>
            <a:ext cx="132588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nuXmv 2.1.0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40296" y="3803904"/>
            <a:ext cx="25603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196328" y="3584448"/>
            <a:ext cx="1417320" cy="804672"/>
          </a:xfrm>
          <a:prstGeom prst="rect">
            <a:avLst/>
          </a:prstGeom>
          <a:solidFill>
            <a:srgbClr val="1C7293"/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42048" y="3584448"/>
            <a:ext cx="132588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верификации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механизма как единая цепочка зависимостей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60020" y="987552"/>
            <a:ext cx="274320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0020" y="987552"/>
            <a:ext cx="27432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1460" y="1005840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K_Karn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51460" y="1353312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1460" y="1691640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Карна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9748" y="2084832"/>
            <a:ext cx="2542032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Наблюдает за snds(i) и rcvs(j).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Определяет, возможна ли выборка RTT.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1 (p. 19), Obs.1–4 (p. 17–21)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1460" y="3520440"/>
            <a:ext cx="1188720" cy="822960"/>
          </a:xfrm>
          <a:prstGeom prst="rect">
            <a:avLst/>
          </a:prstGeom>
          <a:solidFill>
            <a:srgbClr val="065A82">
              <a:alpha val="12000"/>
            </a:srgbClr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" y="3538728"/>
            <a:ext cx="1188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51460" y="3950208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состояний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577340" y="3520440"/>
            <a:ext cx="1188720" cy="822960"/>
          </a:xfrm>
          <a:prstGeom prst="rect">
            <a:avLst/>
          </a:prstGeom>
          <a:solidFill>
            <a:srgbClr val="065A82">
              <a:alpha val="12000"/>
            </a:srgbClr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77340" y="3538728"/>
            <a:ext cx="1188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577340" y="3950208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свойств CTL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23260" y="987552"/>
            <a:ext cx="274320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23260" y="987552"/>
            <a:ext cx="2743200" cy="6583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4700" y="1005840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K_RTO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314700" y="1353312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Вычисление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14700" y="1691640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Вычисление RTO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32988" y="2084832"/>
            <a:ext cx="2542032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Формулы RFC 6298: srtt, rttvar, rto.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Определяет таймаут ретрансмиссии.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Obs.5–6 (p. 22–23)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14700" y="3520440"/>
            <a:ext cx="1188720" cy="822960"/>
          </a:xfrm>
          <a:prstGeom prst="rect">
            <a:avLst/>
          </a:prstGeom>
          <a:solidFill>
            <a:srgbClr val="1C7293">
              <a:alpha val="12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14700" y="3538728"/>
            <a:ext cx="1188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3314700" y="3950208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состояний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40580" y="3520440"/>
            <a:ext cx="1188720" cy="822960"/>
          </a:xfrm>
          <a:prstGeom prst="rect">
            <a:avLst/>
          </a:prstGeom>
          <a:solidFill>
            <a:srgbClr val="1C7293">
              <a:alpha val="12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40580" y="3538728"/>
            <a:ext cx="1188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4640580" y="3950208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свойств CTL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86500" y="987552"/>
            <a:ext cx="274320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2736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86500" y="987552"/>
            <a:ext cx="2743200" cy="658368"/>
          </a:xfrm>
          <a:prstGeom prst="rect">
            <a:avLst/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77940" y="1005840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K_GBN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377940" y="1353312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Протокол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77940" y="1691640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Go-Back-N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96228" y="2084832"/>
            <a:ext cx="2542032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+ TBF_s + TBF_r + Receiver.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Основа TCP sliding window.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Thm.1–4 (p. 39–46)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77940" y="3520440"/>
            <a:ext cx="1188720" cy="822960"/>
          </a:xfrm>
          <a:prstGeom prst="rect">
            <a:avLst/>
          </a:prstGeom>
          <a:solidFill>
            <a:srgbClr val="027368">
              <a:alpha val="12000"/>
            </a:srgbClr>
          </a:solidFill>
          <a:ln w="6350">
            <a:solidFill>
              <a:srgbClr val="02736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77940" y="3538728"/>
            <a:ext cx="1188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6377940" y="3950208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состояний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703820" y="3520440"/>
            <a:ext cx="1188720" cy="822960"/>
          </a:xfrm>
          <a:prstGeom prst="rect">
            <a:avLst/>
          </a:prstGeom>
          <a:solidFill>
            <a:srgbClr val="027368">
              <a:alpha val="12000"/>
            </a:srgbClr>
          </a:solidFill>
          <a:ln w="6350">
            <a:solidFill>
              <a:srgbClr val="02736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03820" y="3538728"/>
            <a:ext cx="1188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7703820" y="3950208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свойств CTL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820670" y="2322195"/>
            <a:ext cx="5029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875020" y="2322195"/>
            <a:ext cx="5029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4"/>
          <p:cNvSpPr/>
          <p:nvPr/>
        </p:nvSpPr>
        <p:spPr>
          <a:xfrm>
            <a:off x="365760" y="887095"/>
            <a:ext cx="4297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K_Karn — Алгоритм Карна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0" y="137160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Obs.1–4 · p. 17–21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2915" y="1051560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Немешающий монитор (non-interfering monitor)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62915" y="1362837"/>
            <a:ext cx="484632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Вход: 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snds(i), rcvs(j)
</a:t>
            </a: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Выход: 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τ − time[high]
</a:t>
            </a: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Условие: 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ok-to-sample(numT, high)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365760" y="2167255"/>
          <a:ext cx="8412480" cy="2606040"/>
        </p:xfrm>
        <a:graphic>
          <a:graphicData uri="http://schemas.openxmlformats.org/drawingml/2006/table">
            <a:tbl>
              <a:tblPr/>
              <a:tblGrid>
                <a:gridCol w="256032"/>
                <a:gridCol w="5961888"/>
                <a:gridCol w="2194560"/>
              </a:tblGrid>
              <a:tr h="260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0F4F8"/>
                          </a:solidFill>
                        </a:rPr>
                        <a:t>№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0F4F8"/>
                          </a:solidFill>
                        </a:rPr>
                        <a:t>CTL-спецификация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0F4F8"/>
                          </a:solidFill>
                        </a:rPr>
                        <a:t>Наблюдение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AG (EX TRUE)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7293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AG !(Window_unambiguous &amp; Window_ambiguous)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7293"/>
                          </a:solidFill>
                        </a:rPr>
                        <a:t>Obs.2 I1, p.20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AG !(ACK_stale &amp; ACK_fresh)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7293"/>
                          </a:solidFill>
                        </a:rPr>
                        <a:t>Obs.1, p.17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AG !(Sample_exact &amp; Sample_pessimistic)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7293"/>
                          </a:solidFill>
                        </a:rPr>
                        <a:t>Obs.3/4, p.20-21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AG ((Sample_produced &amp; FIFO_channel) → Sample_exact)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7293"/>
                          </a:solidFill>
                        </a:rPr>
                        <a:t>Obs.4, p.21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AG ((Sample_produced &amp; NonFIFO_channel) → Sample_pessimistic)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7293"/>
                          </a:solidFill>
                        </a:rPr>
                        <a:t>Obs.3, p.20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AG (Sample_produced → ACK_fresh)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7293"/>
                          </a:solidFill>
                        </a:rPr>
                        <a:t>Obs.3, p.19-20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AG (Window_ambiguous → AF (ACK_no_sample | ACK_stale | Karn_done))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7293"/>
                          </a:solidFill>
                        </a:rPr>
                        <a:t>Obs.3, p.20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AG (Pkt_retransmitted → AF Window_ambiguous)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7293"/>
                          </a:solidFill>
                        </a:rPr>
                        <a:t>Obs.2 I1, p.20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65760" y="4773168"/>
            <a:ext cx="2011680" cy="2926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4773168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9 свойств is true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514600" y="4773168"/>
            <a:ext cx="6263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состояний · 19 переходов · FAIRNESS: Sample_produced | Karn_done | ACK_stale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K_Karn — Модель Крипке</a:t>
            </a:r>
            <a:endParaRPr lang="en-US" sz="2400" dirty="0"/>
          </a:p>
        </p:txBody>
      </p:sp>
      <p:pic>
        <p:nvPicPr>
          <p:cNvPr id="14" name="Изображение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69010"/>
            <a:ext cx="9124315" cy="37649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K_RTO — Вычисление таймаута ретрансмиссии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603365" y="393065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6298 · Obs.5–6 · p. 21–23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297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05156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Формулы RFC 6298 (p. 21)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4114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rtoᵢ = srttᵢ + max(G, 4·rttvarᵢ)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srttᵢ = (1−α)·srttᵢ₋₁ + α·Sᵢ   [α=1/8]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rttvarᵢ = (1−β)·rttvarᵢ₋₁ + β·|srttᵢ₋₁−Sᵢ|  [β=1/4]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365760" y="2395728"/>
          <a:ext cx="8412480" cy="2423160"/>
        </p:xfrm>
        <a:graphic>
          <a:graphicData uri="http://schemas.openxmlformats.org/drawingml/2006/table">
            <a:tbl>
              <a:tblPr/>
              <a:tblGrid>
                <a:gridCol w="256032"/>
                <a:gridCol w="5961888"/>
                <a:gridCol w="2194560"/>
              </a:tblGrid>
              <a:tr h="3028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0F4F8"/>
                          </a:solidFill>
                        </a:rPr>
                        <a:t>№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0F4F8"/>
                          </a:solidFill>
                        </a:rPr>
                        <a:t>CTL-спецификация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0F4F8"/>
                          </a:solidFill>
                        </a:rPr>
                        <a:t>Основание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AG (EX TRUE)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7293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AG !(sampling_enabled &amp; sampling_blocked)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7293"/>
                          </a:solidFill>
                        </a:rPr>
                        <a:t>Obs.2, p.20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AG ((sampling_blocked &amp; !done &amp; !aborted) → AF (sampling_enabled | done | aborted))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7293"/>
                          </a:solidFill>
                        </a:rPr>
                        <a:t>Obs.3, p.20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AG (fresh_sample → AF rto_initialized)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7293"/>
                          </a:solidFill>
                        </a:rPr>
                        <a:t>Obs.5, p.22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AG (rto_initialized → AF (rto_adequate | spurious_timeout))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7293"/>
                          </a:solidFill>
                        </a:rPr>
                        <a:t>Obs.5-6, p.22-23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AG !(rto_adequate &amp; timeout_risk)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7293"/>
                          </a:solidFill>
                        </a:rPr>
                        <a:t>Obs.6, p.22-23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AG (spurious_timeout → AF sampling_blocked)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7293"/>
                          </a:solidFill>
                        </a:rPr>
                        <a:t>RFC 6298, p.21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800600" y="1005840"/>
            <a:ext cx="3977640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919472" y="105156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Качественная абстракция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919472" y="1325880"/>
            <a:ext cx="37490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srtt, rttvar, rto — рациональные переменные из ∞ пространства → заменены конечными фазами: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RTO_first_sampe · RTO_updating · RTO_steady_state · rto_adequate · timeout_risk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5760" y="4819015"/>
            <a:ext cx="2194560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4819015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7 свойств is true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743200" y="4819015"/>
            <a:ext cx="6035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состояний · 22 перехода · FAIRNESS: sampling_enabled | Transmission_complete | Connection_aborted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K_RTO — Модель Крипке</a:t>
            </a:r>
            <a:endParaRPr lang="en-US" sz="2400" dirty="0"/>
          </a:p>
        </p:txBody>
      </p:sp>
      <p:pic>
        <p:nvPicPr>
          <p:cNvPr id="17" name="Изображение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57275"/>
            <a:ext cx="9143365" cy="30772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K_GBN — Протокол Go-Back-N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0" y="137160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Thm.1–4 · p. 39–46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1920240" cy="8046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38912" y="1024128"/>
            <a:ext cx="1783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38912" y="141732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senderR (3.1)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1005840"/>
            <a:ext cx="1920240" cy="8046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42032" y="1024128"/>
            <a:ext cx="1783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TBF_s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42032" y="141732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tbfR (3.6)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005840"/>
            <a:ext cx="1920240" cy="8046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45152" y="1024128"/>
            <a:ext cx="1783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TBF_r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45152" y="141732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tbfR (3.6)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75120" y="1005840"/>
            <a:ext cx="1920240" cy="804672"/>
          </a:xfrm>
          <a:prstGeom prst="rect">
            <a:avLst/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48272" y="1024128"/>
            <a:ext cx="1783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748272" y="141732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receiverR (3.2)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1874520"/>
            <a:ext cx="8412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sysR = senderSnd ∨ receiverSnd ∨ senderInt ∨ tbfSint ∨ tbfRint ∨ senderRcv ∨ receiverRcv  [формула 3.11, p.46]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/>
        </p:nvGraphicFramePr>
        <p:xfrm>
          <a:off x="365760" y="2304288"/>
          <a:ext cx="8412480" cy="2487170"/>
        </p:xfrm>
        <a:graphic>
          <a:graphicData uri="http://schemas.openxmlformats.org/drawingml/2006/table">
            <a:tbl>
              <a:tblPr/>
              <a:tblGrid>
                <a:gridCol w="256032"/>
                <a:gridCol w="5961888"/>
                <a:gridCol w="2194560"/>
              </a:tblGrid>
              <a:tr h="3553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0F4F8"/>
                          </a:solidFill>
                        </a:rPr>
                        <a:t>№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73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0F4F8"/>
                          </a:solidFill>
                        </a:rPr>
                        <a:t>CTL-спецификация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73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0F4F8"/>
                          </a:solidFill>
                        </a:rPr>
                        <a:t>Основание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7368"/>
                    </a:solidFill>
                  </a:tcPr>
                </a:tc>
              </a:tr>
              <a:tr h="3553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1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AG (EX TRUE)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27368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2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AG !(window_full &amp; transmitting)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27368"/>
                          </a:solidFill>
                        </a:rPr>
                        <a:t>Thm.1 Inv2, p.39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7"/>
                    </a:solidFill>
                  </a:tcPr>
                </a:tc>
              </a:tr>
              <a:tr h="3553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3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AG (timeout_fired → AF transmitting)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27368"/>
                          </a:solidFill>
                        </a:rPr>
                        <a:t>Thm.1 Inv3, p.39-40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AG ((window_full &amp; !Connection_complete) → AF transmitting)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27368"/>
                          </a:solidFill>
                        </a:rPr>
                        <a:t>Thm.1 Inv2, p.39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7"/>
                    </a:solidFill>
                  </a:tcPr>
                </a:tc>
              </a:tr>
              <a:tr h="3553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5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AG (transmitting → AF (window_full | Connection_complete))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27368"/>
                          </a:solidFill>
                        </a:rPr>
                        <a:t>Thm.1, p.39-40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6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AG (ACK_received → AF (window_full | Connection_complete))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27368"/>
                          </a:solidFill>
                        </a:rPr>
                        <a:t>Thm.2, p.40-41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7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365760" y="4791837"/>
            <a:ext cx="2011680" cy="228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5760" y="4791837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6 свойств is true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2514600" y="4791837"/>
            <a:ext cx="6263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состояний · 21 переход · N=2 (конечная абстракция)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K_GBN — Протокол Go-Back-N</a:t>
            </a:r>
            <a:endParaRPr lang="en-US" sz="2400" dirty="0"/>
          </a:p>
        </p:txBody>
      </p:sp>
      <p:pic>
        <p:nvPicPr>
          <p:cNvPr id="23" name="Изображение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7240" y="969010"/>
            <a:ext cx="3985260" cy="41408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Итерационное уточнение: контрпримеры nuXmv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Контрпримеры — не ошибки модели, а семантические находки. Каждый выявил реальный граничный случай.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44752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44752"/>
            <a:ext cx="1371600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536192"/>
            <a:ext cx="13258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K_GBN
</a:t>
            </a:r>
            <a:r>
              <a:rPr lang="en-US" sz="1100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Итерация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10512" y="1499616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Было: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50592" y="1499616"/>
            <a:ext cx="6217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 (window_full → AF transmitting)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10512" y="1773936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Контрпример: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816352" y="1773936"/>
            <a:ext cx="58704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→ s_done → s_done (петля)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window_full=TRUE, Connection_complete=TRUE, transmitting=FALSE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10512" y="2249424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13432" y="2249424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window_full в терминальном состоянии — корректный исход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633472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633472"/>
            <a:ext cx="1371600" cy="10972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724912"/>
            <a:ext cx="13258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K_RTO
</a:t>
            </a:r>
            <a:r>
              <a:rPr lang="en-US" sz="1100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Итерации 1–3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10512" y="2688336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Было: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50592" y="2688336"/>
            <a:ext cx="6217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 (sampling_blocked → AF sampling_enabled)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10512" y="2962656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Контрпример: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816352" y="2962656"/>
            <a:ext cx="58704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→ s4 → s3 → ... (бесконечная ретрансмиссия)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sampling_blocked=TRUE навсегда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810512" y="3438144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313432" y="3438144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Бесконечная ретрансмиссия реальна, но несправедлива (tcp_retries_max)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822192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2736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822192"/>
            <a:ext cx="1371600" cy="1097280"/>
          </a:xfrm>
          <a:prstGeom prst="rect">
            <a:avLst/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913632"/>
            <a:ext cx="13258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K_Karn
</a:t>
            </a:r>
            <a:r>
              <a:rPr lang="en-US" sz="1100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Итерации 1–2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810512" y="3877056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Было: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450592" y="3877056"/>
            <a:ext cx="6217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 (Sample_produced → ACK_fresh)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810512" y="4151376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Контрпример: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816352" y="4151376"/>
            <a:ext cx="58704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s6→s9: ACK_fresh=FALSE в s9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(предикат не наследовался из s6)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810512" y="4626864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313432" y="4626864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Свежесть ACK сохраняется на весь шаг rcvs — строка 12 Algorithm 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Разграничение: заимствовано vs оригинально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4251960" cy="4041648"/>
          </a:xfrm>
          <a:prstGeom prst="rect">
            <a:avLst/>
          </a:prstGeom>
          <a:solidFill>
            <a:srgbClr val="FFFFFF"/>
          </a:solidFill>
          <a:ln w="10160">
            <a:solidFill>
              <a:srgbClr val="AABB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87552"/>
            <a:ext cx="4251960" cy="384048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4069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Заимствовано из первоисточников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435608"/>
            <a:ext cx="4041648" cy="34930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1–3: Kripke, Process, Composition (p. 62–65)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1: Karn's Algorithm (p. 19)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Формулы RFC 6298: rto, srtt, rttvar (p. 21)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Наблюдения 1–6 (p. 17–23) как верифицируемые свойства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Теоремы 1–4: senderR, receiverR, tbfR, sysR (p. 39–46)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Конечная абстракция как методология model checking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987552"/>
            <a:ext cx="4069080" cy="4041648"/>
          </a:xfrm>
          <a:prstGeom prst="rect">
            <a:avLst/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87552"/>
            <a:ext cx="4069080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05840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Оригинальные результаты автора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64608" y="1435608"/>
            <a:ext cx="3858768" cy="34930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JSON-модели: K_Karn, K_RTO, K_GBN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CTL-спецификации (CTL ↔ Ivy/ACL2s — разные инструменты)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Генератор SMV на C++ с поддержкой FAIRNESS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итераций уточнения с анализом контрпримеров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Качественная абстракция числовых переменных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Состояние s_abort (формализация tcp_retries_max)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Вертикальная цепочка K_Karn → K_RTO → K_GBN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4717415"/>
            <a:ext cx="8503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Hippel (2025), p. 97: «We did not connect our finite state handshake models to our infinite state models of Karn's Algorithm, the RTO computation, or Go-Back-N» — данная работа реализует это соединение.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 и результаты верификации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25603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65760" y="1773936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 Крипке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54680" y="1024128"/>
            <a:ext cx="25603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154680" y="1773936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CTL-свойства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89320" y="1024128"/>
            <a:ext cx="25603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5989320" y="1773936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итераций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уточнения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365760" y="2212848"/>
          <a:ext cx="8412480" cy="2286000"/>
        </p:xfrm>
        <a:graphic>
          <a:graphicData uri="http://schemas.openxmlformats.org/drawingml/2006/table">
            <a:tbl>
              <a:tblPr/>
              <a:tblGrid>
                <a:gridCol w="1463040"/>
                <a:gridCol w="1097280"/>
                <a:gridCol w="1097280"/>
                <a:gridCol w="1188720"/>
                <a:gridCol w="1097280"/>
                <a:gridCol w="1005840"/>
                <a:gridCol w="1463040"/>
              </a:tblGrid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0F4F8"/>
                          </a:solidFill>
                        </a:rPr>
                        <a:t>Модель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0F4F8"/>
                          </a:solidFill>
                        </a:rPr>
                        <a:t>Состояний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0F4F8"/>
                          </a:solidFill>
                        </a:rPr>
                        <a:t>Переходов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0F4F8"/>
                          </a:solidFill>
                        </a:rPr>
                        <a:t>CTL-свойств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0F4F8"/>
                          </a:solidFill>
                        </a:rPr>
                        <a:t>FAIRNESS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0F4F8"/>
                          </a:solidFill>
                        </a:rPr>
                        <a:t>Итераций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0F4F8"/>
                          </a:solidFill>
                        </a:rPr>
                        <a:t>Результат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</a:rPr>
                        <a:t>K_Karn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12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19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да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7700"/>
                          </a:solidFill>
                        </a:rPr>
                        <a:t>9/9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C7293"/>
                          </a:solidFill>
                        </a:rPr>
                        <a:t>K_RTO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15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22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да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7700"/>
                          </a:solidFill>
                        </a:rPr>
                        <a:t>7/7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27368"/>
                          </a:solidFill>
                        </a:rPr>
                        <a:t>K_GBN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13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21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нет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7700"/>
                          </a:solidFill>
                        </a:rPr>
                        <a:t>6/6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365760" y="4499102"/>
            <a:ext cx="841248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4517390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22 CTL-свойства верифицированы · nuXmv 2.1.0 · Полная цепочка K_Karn → K_RTO → K_GBN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6123</Words>
  <Application>WPS Presentation</Application>
  <PresentationFormat>On-screen Show (16:9)</PresentationFormat>
  <Paragraphs>489</Paragraphs>
  <Slides>13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35" baseType="lpstr">
      <vt:lpstr>Arial</vt:lpstr>
      <vt:lpstr>SimSun</vt:lpstr>
      <vt:lpstr>Wingdings</vt:lpstr>
      <vt:lpstr>Calibri</vt:lpstr>
      <vt:lpstr>Trebuchet MS</vt:lpstr>
      <vt:lpstr>Calibri</vt:lpstr>
      <vt:lpstr>Calibri</vt:lpstr>
      <vt:lpstr>Consolas</vt:lpstr>
      <vt:lpstr>Consolas</vt:lpstr>
      <vt:lpstr>Consolas</vt:lpstr>
      <vt:lpstr>Microsoft YaHei</vt:lpstr>
      <vt:lpstr>Droid Sans Fallback</vt:lpstr>
      <vt:lpstr>Arial Unicode MS</vt:lpstr>
      <vt:lpstr>Quicksand Light</vt:lpstr>
      <vt:lpstr>Cantarell</vt:lpstr>
      <vt:lpstr>C059</vt:lpstr>
      <vt:lpstr>DejaVu Math TeX Gyre</vt:lpstr>
      <vt:lpstr>DejaVu Sans</vt:lpstr>
      <vt:lpstr>OpenSymbol</vt:lpstr>
      <vt:lpstr>Calibri Light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Формальная верификация механизмов планирования канальных ресурсов</dc:title>
  <dc:creator>PptxGenJS</dc:creator>
  <dc:subject>PptxGenJS Presentation</dc:subject>
  <cp:lastModifiedBy>timoha</cp:lastModifiedBy>
  <cp:revision>14</cp:revision>
  <dcterms:created xsi:type="dcterms:W3CDTF">2026-03-24T05:37:28Z</dcterms:created>
  <dcterms:modified xsi:type="dcterms:W3CDTF">2026-03-24T05:37:28Z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1049-11.1.0.11723</vt:lpwstr>
  </property>
</Properties>
</file>